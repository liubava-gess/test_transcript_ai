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3DF1E8-4BBE-42B9-8848-BB9DD516698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666720" y="523800"/>
            <a:ext cx="3333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050" b="1" u="none" strike="noStrike">
                <a:solidFill>
                  <a:srgbClr val="A15C34"/>
                </a:solidFill>
                <a:effectLst/>
                <a:uFillTx/>
                <a:latin typeface="Arial"/>
              </a:rPr>
              <a:t>КУЛЬТУРНЫЕ ДЕБАТЫ • ИРКУТСК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66720" y="838080"/>
            <a:ext cx="61909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300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Эксперимент в театре: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300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когда он работает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66720" y="2000160"/>
            <a:ext cx="5714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30" b="0" u="none" strike="noStrike">
                <a:solidFill>
                  <a:srgbClr val="705A4B"/>
                </a:solidFill>
                <a:effectLst/>
                <a:uFillTx/>
                <a:latin typeface="Arial"/>
              </a:rPr>
              <a:t>Ток-шоу в Центре Александра Вампилова поставило главный вопрос: нужны ли зрителю смелые формы — и где проходит граница уместности?</a:t>
            </a:r>
            <a:endParaRPr lang="ru-RU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66720" y="3143160"/>
            <a:ext cx="7429320" cy="2428560"/>
          </a:xfrm>
          <a:prstGeom prst="roundRect">
            <a:avLst>
              <a:gd name="adj" fmla="val 4706"/>
            </a:avLst>
          </a:prstGeom>
          <a:solidFill>
            <a:srgbClr val="F0E0D1"/>
          </a:solidFill>
          <a:ln w="0">
            <a:solidFill>
              <a:srgbClr val="F0E0D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52560" y="3429000"/>
            <a:ext cx="4952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3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Разговор — от примеров к позиции зрителя</a:t>
            </a:r>
            <a:endParaRPr lang="ru-RU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52560" y="3952800"/>
            <a:ext cx="1952280" cy="1095120"/>
          </a:xfrm>
          <a:prstGeom prst="roundRect">
            <a:avLst>
              <a:gd name="adj" fmla="val 10435"/>
            </a:avLst>
          </a:prstGeom>
          <a:solidFill>
            <a:srgbClr val="FFF9F3"/>
          </a:solidFill>
          <a:ln w="0">
            <a:solidFill>
              <a:srgbClr val="FFF9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104840" y="40957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980" b="1" u="none" strike="noStrike">
                <a:solidFill>
                  <a:srgbClr val="B86F42"/>
                </a:solidFill>
                <a:effectLst/>
                <a:uFillTx/>
                <a:latin typeface="Arial"/>
              </a:rPr>
              <a:t>01</a:t>
            </a:r>
            <a:endParaRPr lang="ru-RU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104840" y="4343400"/>
            <a:ext cx="1618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20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Классика иначе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104840" y="47052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820" b="0" u="none" strike="noStrike">
                <a:solidFill>
                  <a:srgbClr val="705A4B"/>
                </a:solidFill>
                <a:effectLst/>
                <a:uFillTx/>
                <a:latin typeface="Arial"/>
              </a:rPr>
              <a:t>Хоккейная форма в «Укрощении строптивой»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238560" y="3952800"/>
            <a:ext cx="1952280" cy="1095120"/>
          </a:xfrm>
          <a:prstGeom prst="roundRect">
            <a:avLst>
              <a:gd name="adj" fmla="val 10435"/>
            </a:avLst>
          </a:prstGeom>
          <a:solidFill>
            <a:srgbClr val="FFF9F3"/>
          </a:solidFill>
          <a:ln w="0">
            <a:solidFill>
              <a:srgbClr val="FFF9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390840" y="40957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980" b="1" u="none" strike="noStrike">
                <a:solidFill>
                  <a:srgbClr val="B86F42"/>
                </a:solidFill>
                <a:effectLst/>
                <a:uFillTx/>
                <a:latin typeface="Arial"/>
              </a:rPr>
              <a:t>02</a:t>
            </a:r>
            <a:endParaRPr lang="ru-RU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390840" y="4343400"/>
            <a:ext cx="1618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20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Сила формы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390840" y="47052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820" b="0" u="none" strike="noStrike">
                <a:solidFill>
                  <a:srgbClr val="705A4B"/>
                </a:solidFill>
                <a:effectLst/>
                <a:uFillTx/>
                <a:latin typeface="Arial"/>
              </a:rPr>
              <a:t>«Боевой конь»: артисты и огромные куклы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524560" y="3952800"/>
            <a:ext cx="1952280" cy="1095120"/>
          </a:xfrm>
          <a:prstGeom prst="roundRect">
            <a:avLst>
              <a:gd name="adj" fmla="val 10435"/>
            </a:avLst>
          </a:prstGeom>
          <a:solidFill>
            <a:srgbClr val="FFF9F3"/>
          </a:solidFill>
          <a:ln w="0">
            <a:solidFill>
              <a:srgbClr val="FFF9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676840" y="4095720"/>
            <a:ext cx="380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980" b="1" u="none" strike="noStrike">
                <a:solidFill>
                  <a:srgbClr val="B86F42"/>
                </a:solidFill>
                <a:effectLst/>
                <a:uFillTx/>
                <a:latin typeface="Arial"/>
              </a:rPr>
              <a:t>03</a:t>
            </a:r>
            <a:endParaRPr lang="ru-RU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676840" y="4343400"/>
            <a:ext cx="1618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200" b="1" u="none" strike="noStrike">
                <a:solidFill>
                  <a:srgbClr val="452916"/>
                </a:solidFill>
                <a:effectLst/>
                <a:uFillTx/>
                <a:latin typeface="Arial"/>
              </a:rPr>
              <a:t>Осознанный выбор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676840" y="47052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820" b="0" u="none" strike="noStrike">
                <a:solidFill>
                  <a:srgbClr val="705A4B"/>
                </a:solidFill>
                <a:effectLst/>
                <a:uFillTx/>
                <a:latin typeface="Arial"/>
              </a:rPr>
              <a:t>Эксперимент важен, если зритель знает, на что идёт</a:t>
            </a:r>
            <a:endParaRPr lang="ru-RU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477280" y="666720"/>
            <a:ext cx="3047760" cy="5333760"/>
          </a:xfrm>
          <a:prstGeom prst="roundRect">
            <a:avLst>
              <a:gd name="adj" fmla="val 3750"/>
            </a:avLst>
          </a:prstGeom>
          <a:solidFill>
            <a:srgbClr val="452916"/>
          </a:solidFill>
          <a:ln w="0">
            <a:solidFill>
              <a:srgbClr val="45291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810640" y="1047600"/>
            <a:ext cx="2285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87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Главный вывод</a:t>
            </a:r>
            <a:endParaRPr lang="ru-RU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810640" y="1619280"/>
            <a:ext cx="228564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30" b="1" u="none" strike="noStrike">
                <a:solidFill>
                  <a:srgbClr val="F8E9DC"/>
                </a:solidFill>
                <a:effectLst/>
                <a:uFillTx/>
                <a:latin typeface="Arial"/>
              </a:rPr>
              <a:t>Эксперимент не отменяет театр — он расширяет его язык, когда работает на смысл и встречу со зрителем.</a:t>
            </a:r>
            <a:endParaRPr lang="ru-RU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810640" y="3143160"/>
            <a:ext cx="1904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050" b="1" u="none" strike="noStrike">
                <a:solidFill>
                  <a:srgbClr val="E0A77E"/>
                </a:solidFill>
                <a:effectLst/>
                <a:uFillTx/>
                <a:latin typeface="Arial"/>
              </a:rPr>
              <a:t>Кому это важно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810640" y="3429000"/>
            <a:ext cx="22381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Студентам — открывать новые формы.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Театрам — объяснять контекст.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Зрителям — выбирать осознанно.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810640" y="504828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980" b="1" u="none" strike="noStrike">
                <a:solidFill>
                  <a:srgbClr val="E0A77E"/>
                </a:solidFill>
                <a:effectLst/>
                <a:uFillTx/>
                <a:latin typeface="Arial"/>
              </a:rPr>
              <a:t>На встрече: режиссёры, актёры и студенческая аудитория</a:t>
            </a:r>
            <a:endParaRPr lang="ru-RU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66720" y="6334200"/>
            <a:ext cx="2381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980" b="0" u="none" strike="noStrike">
                <a:solidFill>
                  <a:srgbClr val="8B7668"/>
                </a:solidFill>
                <a:effectLst/>
                <a:uFillTx/>
                <a:latin typeface="Arial"/>
              </a:rPr>
              <a:t>2 мин 20 с • радио-репортаж</a:t>
            </a:r>
            <a:endParaRPr lang="ru-RU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2026-08-10T14:10:09Z</dcterms:created>
  <dc:creator>Walnut Exporter</dc:creator>
  <dc:description/>
  <dc:language>ru-RU</dc:language>
  <cp:lastModifiedBy>Walnut Exporter</cp:lastModifiedBy>
  <dcterms:modified xsi:type="dcterms:W3CDTF">2026-08-10T14:10:09Z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